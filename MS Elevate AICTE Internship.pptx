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6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80" r:id="rId10"/>
    <p:sldId id="581" r:id="rId11"/>
    <p:sldId id="577" r:id="rId12"/>
    <p:sldId id="579" r:id="rId13"/>
    <p:sldId id="578" r:id="rId14"/>
    <p:sldId id="536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DE82"/>
    <a:srgbClr val="34A751"/>
    <a:srgbClr val="263570"/>
    <a:srgbClr val="4A9DE2"/>
    <a:srgbClr val="88BFEC"/>
    <a:srgbClr val="F9B1B1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>
        <p:scale>
          <a:sx n="70" d="100"/>
          <a:sy n="70" d="100"/>
        </p:scale>
        <p:origin x="1138" y="326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dap.niti.gov.in/dataset/national-family-health-survey" TargetMode="External"/><Relationship Id="rId2" Type="http://schemas.openxmlformats.org/officeDocument/2006/relationships/hyperlink" Target="https://ndap.niti.gov.in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94127" y="963029"/>
            <a:ext cx="4746772" cy="24659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260000"/>
              </a:lnSpc>
            </a:pPr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</a:p>
          <a:p>
            <a:pPr algn="just"/>
            <a:r>
              <a:rPr lang="en-US" sz="3200" dirty="0"/>
              <a:t>Empowering India: A Data-Driven Analysis of Socio-Economic &amp; Health Progress (NFHS-4 vs. NFHS-5)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6" y="3739889"/>
            <a:ext cx="4621685" cy="22223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cap="all" dirty="0"/>
              <a:t>B Madhavi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cap="all" dirty="0"/>
              <a:t>Pondicherry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cap="all" dirty="0"/>
              <a:t>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dirty="0"/>
              <a:t>madhavi.cdk1234@gmail.com</a:t>
            </a:r>
            <a:endParaRPr lang="en-US" sz="1600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476F8-DBA9-3074-D72A-CC17DDB3EC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1" t="28027" r="26244" b="25307"/>
          <a:stretch>
            <a:fillRect/>
          </a:stretch>
        </p:blipFill>
        <p:spPr>
          <a:xfrm>
            <a:off x="7032172" y="1486358"/>
            <a:ext cx="3303439" cy="38846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Despite national growth, there remains a significant disparity in healthcare access, digital literacy, and basic living standards between rural and urban India. Policy makers lack a consolidated, interactive way to track how specific indicators (like the 9.4% Literacy Gap) vary across states over time. This makes it difficult to identify high-risk zones that require immediate infrastructure investment.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3" y="671804"/>
            <a:ext cx="10159846" cy="690465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530220"/>
            <a:ext cx="11308702" cy="49265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dirty="0"/>
              <a:t>To bridge the information gap in India’s public health and socio-economic sectors by developing a high-fidelity, interactive "Decision-Support System" using the NFHS-5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1. Multidimensional Trend Analysis:</a:t>
            </a:r>
            <a:r>
              <a:rPr lang="en-US" altLang="en-US" sz="1600" dirty="0">
                <a:latin typeface="Arial" panose="020B0604020202020204" pitchFamily="34" charset="0"/>
              </a:rPr>
              <a:t> A unified interface that transitions seamlessly between three critical development sectors: Digital Empowerment, Maternal Health, and Infrastructure Standards. This allows stakeholders to see how progress in one area (Literacy) affects another (Banking/Mobile access).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2. Granular Comparative Intelligence:</a:t>
            </a:r>
            <a:r>
              <a:rPr lang="en-US" altLang="en-US" sz="1600" dirty="0">
                <a:latin typeface="Arial" panose="020B0604020202020204" pitchFamily="34" charset="0"/>
              </a:rPr>
              <a:t> Implementation of dynamic slicers and "Rural vs. Urban" toggles. This provides the ability to perform </a:t>
            </a:r>
            <a:r>
              <a:rPr lang="en-US" altLang="en-US" sz="1600" b="1" dirty="0">
                <a:latin typeface="Arial" panose="020B0604020202020204" pitchFamily="34" charset="0"/>
              </a:rPr>
              <a:t>Comparative Analysis</a:t>
            </a:r>
            <a:r>
              <a:rPr lang="en-US" altLang="en-US" sz="1600" dirty="0">
                <a:latin typeface="Arial" panose="020B0604020202020204" pitchFamily="34" charset="0"/>
              </a:rPr>
              <a:t> at a click, revealing hidden disparities that are often lost in national-level averages.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3. Visual Risk Categorization:</a:t>
            </a:r>
            <a:r>
              <a:rPr lang="en-US" altLang="en-US" sz="1600" dirty="0">
                <a:latin typeface="Arial" panose="020B0604020202020204" pitchFamily="34" charset="0"/>
              </a:rPr>
              <a:t> Instead of raw numbers, the solution uses </a:t>
            </a:r>
            <a:r>
              <a:rPr lang="en-US" altLang="en-US" sz="1600" b="1" dirty="0">
                <a:latin typeface="Arial" panose="020B0604020202020204" pitchFamily="34" charset="0"/>
              </a:rPr>
              <a:t>Conditional Formatting and Geospatial Logic</a:t>
            </a:r>
            <a:r>
              <a:rPr lang="en-US" altLang="en-US" sz="1600" dirty="0">
                <a:latin typeface="Arial" panose="020B0604020202020204" pitchFamily="34" charset="0"/>
              </a:rPr>
              <a:t> to immediately flag "High-Priority" zones. This enables "Management by Exception," where leaders can focus only on the red-flagged regions.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b="1" dirty="0"/>
              <a:t>4. </a:t>
            </a:r>
            <a:r>
              <a:rPr lang="en-US" sz="1800" b="1" dirty="0"/>
              <a:t>Enhanced Navigation UI/UX:</a:t>
            </a:r>
            <a:r>
              <a:rPr lang="en-US" sz="1800" dirty="0"/>
              <a:t> An "App-like" navigation framework that ensures non-technical users can explore complex health data without specialized training, making data-driven governance accessible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73" y="1362309"/>
            <a:ext cx="11271211" cy="51411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1.Data Acquisition (Source):</a:t>
            </a:r>
          </a:p>
          <a:p>
            <a:pPr lvl="1">
              <a:spcBef>
                <a:spcPct val="20000"/>
              </a:spcBef>
              <a:spcAft>
                <a:spcPts val="6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Extracted secondary data from the </a:t>
            </a:r>
            <a:r>
              <a:rPr lang="en-US" altLang="en-US" sz="1600" b="1" dirty="0">
                <a:latin typeface="Arial" panose="020B0604020202020204" pitchFamily="34" charset="0"/>
              </a:rPr>
              <a:t>National Data and Analytics Platform (NDAP)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lvl="1">
              <a:spcBef>
                <a:spcPct val="20000"/>
              </a:spcBef>
              <a:spcAft>
                <a:spcPts val="6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Dataset includes comprehensive indicators from </a:t>
            </a:r>
            <a:r>
              <a:rPr lang="en-US" altLang="en-US" sz="1600" b="1" dirty="0">
                <a:latin typeface="Arial" panose="020B0604020202020204" pitchFamily="34" charset="0"/>
              </a:rPr>
              <a:t>NFHS-4 (2015-16)</a:t>
            </a:r>
            <a:r>
              <a:rPr lang="en-US" altLang="en-US" sz="1600" dirty="0">
                <a:latin typeface="Arial" panose="020B0604020202020204" pitchFamily="34" charset="0"/>
              </a:rPr>
              <a:t> and </a:t>
            </a:r>
            <a:r>
              <a:rPr lang="en-US" altLang="en-US" sz="1600" b="1" dirty="0">
                <a:latin typeface="Arial" panose="020B0604020202020204" pitchFamily="34" charset="0"/>
              </a:rPr>
              <a:t>NFHS-5 (2019-21)</a:t>
            </a:r>
            <a:r>
              <a:rPr lang="en-US" altLang="en-US" sz="1600" dirty="0">
                <a:latin typeface="Arial" panose="020B0604020202020204" pitchFamily="34" charset="0"/>
              </a:rPr>
              <a:t> for comparative trend analysis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2. Data Preprocessing 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Tool </a:t>
            </a:r>
            <a:r>
              <a:rPr lang="en-US" altLang="en-US" sz="1600" dirty="0">
                <a:latin typeface="Arial" panose="020B0604020202020204" pitchFamily="34" charset="0"/>
              </a:rPr>
              <a:t>: Power BI Power Query Editor.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Cleaning: </a:t>
            </a:r>
            <a:r>
              <a:rPr lang="en-US" altLang="en-US" sz="1600" dirty="0">
                <a:latin typeface="Arial" panose="020B0604020202020204" pitchFamily="34" charset="0"/>
              </a:rPr>
              <a:t>Removed null values, handled outliers in mortality data, and standardized state names to ensure geographic accuracy.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Transformation</a:t>
            </a:r>
            <a:r>
              <a:rPr lang="en-US" altLang="en-US" sz="1600" dirty="0">
                <a:latin typeface="Arial" panose="020B0604020202020204" pitchFamily="34" charset="0"/>
              </a:rPr>
              <a:t>: Performed "Data Pivoting" and changed data types (Text to Decimal) to enable mathematical aggregations.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3. Data </a:t>
            </a:r>
            <a:r>
              <a:rPr lang="en-IN" sz="2000" dirty="0" err="1"/>
              <a:t>Modeling</a:t>
            </a:r>
            <a:r>
              <a:rPr lang="en-IN" sz="2000" dirty="0"/>
              <a:t> 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Created a </a:t>
            </a:r>
            <a:r>
              <a:rPr lang="en-US" altLang="en-US" sz="1600" b="1" dirty="0">
                <a:latin typeface="Arial" panose="020B0604020202020204" pitchFamily="34" charset="0"/>
              </a:rPr>
              <a:t>Star Schema</a:t>
            </a:r>
            <a:r>
              <a:rPr lang="en-US" altLang="en-US" sz="1600" dirty="0">
                <a:latin typeface="Arial" panose="020B0604020202020204" pitchFamily="34" charset="0"/>
              </a:rPr>
              <a:t> inspired model by organizing data into logical themes.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Established relationships between different survey years to allow the "NFHS Version" slicer to function across all visuals.</a:t>
            </a:r>
            <a:endParaRPr lang="en-IN" sz="1600" dirty="0"/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4. Visualization Design:</a:t>
            </a:r>
          </a:p>
          <a:p>
            <a:pPr lvl="1">
              <a:spcBef>
                <a:spcPct val="20000"/>
              </a:spcBef>
              <a:spcAft>
                <a:spcPts val="600"/>
              </a:spcAft>
            </a:pPr>
            <a:r>
              <a:rPr lang="en-US" sz="1600" dirty="0"/>
              <a:t>Applied </a:t>
            </a:r>
            <a:r>
              <a:rPr lang="en-US" sz="1600" b="1" dirty="0"/>
              <a:t>UI/UX principles</a:t>
            </a:r>
            <a:r>
              <a:rPr lang="en-US" sz="1600" dirty="0"/>
              <a:t> (Consistent color palettes from </a:t>
            </a:r>
            <a:r>
              <a:rPr lang="en-US" sz="1600" dirty="0" err="1"/>
              <a:t>Coolors</a:t>
            </a:r>
            <a:r>
              <a:rPr lang="en-US" sz="1600" dirty="0"/>
              <a:t>, high-contrast text, and intuitive navigation buttons) to ensure the dashboard is accessible by  people.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" y="686594"/>
            <a:ext cx="11122090" cy="74098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1" y="1344707"/>
            <a:ext cx="10730753" cy="5208493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1.Data Transformation Logic (ETL):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Cleaning:</a:t>
            </a:r>
            <a:r>
              <a:rPr lang="en-US" altLang="en-US" sz="1600" dirty="0">
                <a:latin typeface="Arial" panose="020B0604020202020204" pitchFamily="34" charset="0"/>
              </a:rPr>
              <a:t> Utilized Power Query to handle missing values and standardize state-level naming conventions across NFHS-4 and NFHS-5.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Normalization:</a:t>
            </a:r>
            <a:r>
              <a:rPr lang="en-US" altLang="en-US" sz="1600" dirty="0">
                <a:latin typeface="Arial" panose="020B0604020202020204" pitchFamily="34" charset="0"/>
              </a:rPr>
              <a:t> Converted percentage-based strings into decimal/numeric formats to enable mathematical calculations.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/>
              <a:t>2. Analytical Calculations (DAX Algorithms):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Gap Analysis:</a:t>
            </a:r>
            <a:r>
              <a:rPr lang="en-US" altLang="en-US" sz="1600" dirty="0">
                <a:latin typeface="Arial" panose="020B0604020202020204" pitchFamily="34" charset="0"/>
              </a:rPr>
              <a:t> Developed a custom measure to calculate the </a:t>
            </a:r>
            <a:r>
              <a:rPr lang="en-US" altLang="en-US" sz="1600" b="1" dirty="0">
                <a:latin typeface="Arial" panose="020B0604020202020204" pitchFamily="34" charset="0"/>
              </a:rPr>
              <a:t>Gender Literacy Gap</a:t>
            </a:r>
            <a:r>
              <a:rPr lang="en-US" altLang="en-US" sz="1600" dirty="0">
                <a:latin typeface="Arial" panose="020B0604020202020204" pitchFamily="34" charset="0"/>
              </a:rPr>
              <a:t> using the formula: </a:t>
            </a:r>
            <a:r>
              <a:rPr lang="en-US" altLang="en-US" sz="1600" dirty="0">
                <a:highlight>
                  <a:srgbClr val="B2DE82"/>
                </a:highlight>
                <a:latin typeface="Arial Unicode MS"/>
              </a:rPr>
              <a:t>Average(</a:t>
            </a:r>
            <a:r>
              <a:rPr lang="en-US" altLang="en-US" sz="1600" dirty="0" err="1">
                <a:highlight>
                  <a:srgbClr val="B2DE82"/>
                </a:highlight>
                <a:latin typeface="Arial Unicode MS"/>
              </a:rPr>
              <a:t>Men_Literacy</a:t>
            </a:r>
            <a:r>
              <a:rPr lang="en-US" altLang="en-US" sz="1600" dirty="0">
                <a:highlight>
                  <a:srgbClr val="B2DE82"/>
                </a:highlight>
                <a:latin typeface="Arial Unicode MS"/>
              </a:rPr>
              <a:t>) - Average(</a:t>
            </a:r>
            <a:r>
              <a:rPr lang="en-US" altLang="en-US" sz="1600" dirty="0" err="1">
                <a:highlight>
                  <a:srgbClr val="B2DE82"/>
                </a:highlight>
                <a:latin typeface="Arial Unicode MS"/>
              </a:rPr>
              <a:t>Women_Literacy</a:t>
            </a:r>
            <a:r>
              <a:rPr lang="en-US" altLang="en-US" sz="1600" dirty="0">
                <a:highlight>
                  <a:srgbClr val="B2DE82"/>
                </a:highlight>
                <a:latin typeface="Arial Unicode MS"/>
              </a:rPr>
              <a:t>)</a:t>
            </a:r>
            <a:r>
              <a:rPr lang="en-US" altLang="en-US" sz="1600" dirty="0">
                <a:highlight>
                  <a:srgbClr val="B2DE82"/>
                </a:highlight>
              </a:rPr>
              <a:t>.</a:t>
            </a:r>
            <a:endParaRPr lang="en-US" altLang="en-US" sz="1600" dirty="0">
              <a:highlight>
                <a:srgbClr val="B2DE82"/>
              </a:highlight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Risk Categorization:</a:t>
            </a:r>
            <a:r>
              <a:rPr lang="en-US" altLang="en-US" sz="1600" dirty="0">
                <a:latin typeface="Arial" panose="020B0604020202020204" pitchFamily="34" charset="0"/>
              </a:rPr>
              <a:t> Implemented a logical "Binning" algorithm.</a:t>
            </a:r>
            <a:r>
              <a:rPr lang="en-US" sz="1600" dirty="0"/>
              <a:t> If </a:t>
            </a:r>
            <a:r>
              <a:rPr lang="en-US" sz="1600" dirty="0" err="1">
                <a:highlight>
                  <a:srgbClr val="B2DE82"/>
                </a:highlight>
              </a:rPr>
              <a:t>Infant_Mortality_Rate</a:t>
            </a:r>
            <a:r>
              <a:rPr lang="en-US" sz="1600" dirty="0">
                <a:highlight>
                  <a:srgbClr val="B2DE82"/>
                </a:highlight>
              </a:rPr>
              <a:t> &gt; National Median</a:t>
            </a:r>
            <a:r>
              <a:rPr lang="en-US" sz="1600" dirty="0"/>
              <a:t>, the state is flagged as </a:t>
            </a:r>
            <a:r>
              <a:rPr lang="en-US" sz="1600" b="1" dirty="0"/>
              <a:t>"High Risk", </a:t>
            </a:r>
            <a:r>
              <a:rPr lang="en-US" sz="1600" dirty="0"/>
              <a:t>otherwise, it is labeled </a:t>
            </a:r>
            <a:r>
              <a:rPr lang="en-US" sz="1600" b="1" dirty="0"/>
              <a:t>"Low/Stable Risk."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/>
              <a:t>3.Deployment &amp; Interaction: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Dynamic Filtering:</a:t>
            </a:r>
            <a:r>
              <a:rPr lang="en-US" altLang="en-US" sz="1600" dirty="0">
                <a:latin typeface="Arial" panose="020B0604020202020204" pitchFamily="34" charset="0"/>
              </a:rPr>
              <a:t> Deployed "Slicers" that act as the user interface, allowing real-time filtering by Residence Type (Urban/Rural) and Survey Version.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Cross-Highlighting:</a:t>
            </a:r>
            <a:r>
              <a:rPr lang="en-US" altLang="en-US" sz="1600" dirty="0">
                <a:latin typeface="Arial" panose="020B0604020202020204" pitchFamily="34" charset="0"/>
              </a:rPr>
              <a:t> Enabled interaction between visuals, where selecting a specific state on one chart automatically filters the health and economic data on the others.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09" y="603251"/>
            <a:ext cx="10206499" cy="675044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FC55F5-DA93-AC8C-4E53-95ECDD47C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244" y="1584325"/>
            <a:ext cx="8791387" cy="467042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E4FB3C-F022-98CC-B6B1-33C98C5C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9" t="19487" r="15250" b="3190"/>
          <a:stretch>
            <a:fillRect/>
          </a:stretch>
        </p:blipFill>
        <p:spPr>
          <a:xfrm>
            <a:off x="438540" y="1436914"/>
            <a:ext cx="11271378" cy="518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F154-D417-8FAB-36E0-4CA79228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E55F1-906F-60C9-A2D5-B5597E433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82E50-13B5-D274-7A46-582BB2C3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83" t="19964" r="18184" b="12562"/>
          <a:stretch>
            <a:fillRect/>
          </a:stretch>
        </p:blipFill>
        <p:spPr>
          <a:xfrm>
            <a:off x="550507" y="839755"/>
            <a:ext cx="10720872" cy="571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9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5D75-603F-F682-EECD-959F813F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8B80-E9D2-2B13-39CF-ECC485287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DE52C-D4C6-EEF1-3074-8BD19247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8" t="19675" r="18878" b="6854"/>
          <a:stretch>
            <a:fillRect/>
          </a:stretch>
        </p:blipFill>
        <p:spPr>
          <a:xfrm>
            <a:off x="606491" y="886407"/>
            <a:ext cx="11206064" cy="57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0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1.The analysis confirms that while India has made strides in financial inclusion, the "Rural-Urban Divide" in infrastructure remains a hurdle. </a:t>
            </a:r>
          </a:p>
          <a:p>
            <a:pPr marL="0" indent="0">
              <a:buNone/>
            </a:pPr>
            <a:r>
              <a:rPr lang="en-US" sz="2400" dirty="0"/>
              <a:t>2.The dashboard successfully provides a data-driven roadmap for targeted development, proving that digital literacy is a major catalyst for overall socio-economic improvement.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5" y="1304434"/>
            <a:ext cx="10251826" cy="485377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Franklin Gothic Book"/>
              </a:rPr>
              <a:t>1.</a:t>
            </a:r>
            <a:r>
              <a:rPr lang="en-US" sz="2400" b="1" dirty="0"/>
              <a:t>Real-time Integration:</a:t>
            </a:r>
            <a:r>
              <a:rPr lang="en-US" sz="2400" dirty="0"/>
              <a:t> Connecting the dashboard to live government APIs for instant data updates.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400" b="1" dirty="0"/>
              <a:t>2.Predictive Analytics:</a:t>
            </a:r>
            <a:r>
              <a:rPr lang="en-US" sz="2400" dirty="0"/>
              <a:t> Using Machine Learning to forecast future health trends based on current improvement rates.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400" b="1" dirty="0"/>
              <a:t>3.Granular Mapping:</a:t>
            </a:r>
            <a:r>
              <a:rPr lang="en-US" sz="2400" dirty="0"/>
              <a:t> Expanding the data from State-level to District-level analysis for more local policy impact</a:t>
            </a:r>
            <a:endParaRPr lang="en-GB" sz="2200" dirty="0"/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Website Link : </a:t>
            </a:r>
            <a:r>
              <a:rPr lang="en-IN" dirty="0">
                <a:hlinkClick r:id="rId2"/>
              </a:rPr>
              <a:t>https://ndap.niti.gov.in/</a:t>
            </a:r>
            <a:endParaRPr lang="en-IN" dirty="0"/>
          </a:p>
          <a:p>
            <a:r>
              <a:rPr lang="en-US" dirty="0"/>
              <a:t>Data Source Link:  National Data and Analytics Platform (NDAP) - NFHS Dataset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URL: </a:t>
            </a:r>
            <a:r>
              <a:rPr lang="en-IN" sz="1800" u="sng" dirty="0">
                <a:solidFill>
                  <a:srgbClr val="0070C0"/>
                </a:solidFill>
                <a:latin typeface="Franklin Gothic Book"/>
                <a:hlinkClick r:id="rId3"/>
              </a:rPr>
              <a:t>https://ndap.niti.gov.in/dataset/national-family-health-survey</a:t>
            </a:r>
            <a:endParaRPr lang="en-IN" sz="1800" u="sng" dirty="0">
              <a:solidFill>
                <a:srgbClr val="0070C0"/>
              </a:solidFill>
              <a:latin typeface="Franklin Gothic Book"/>
            </a:endParaRPr>
          </a:p>
          <a:p>
            <a:r>
              <a:rPr lang="en-US" sz="2400" dirty="0"/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854</Words>
  <Application>Microsoft Office PowerPoint</Application>
  <PresentationFormat>Widescreen</PresentationFormat>
  <Paragraphs>67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Arial Unicode MS</vt:lpstr>
      <vt:lpstr>Calibri</vt:lpstr>
      <vt:lpstr>Franklin Gothic Book</vt:lpstr>
      <vt:lpstr>Wingdings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PowerPoint Presentation</vt:lpstr>
      <vt:lpstr>PowerPoint Presentation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Madhavi Boddu</cp:lastModifiedBy>
  <cp:revision>103</cp:revision>
  <dcterms:created xsi:type="dcterms:W3CDTF">2024-05-21T11:55:07Z</dcterms:created>
  <dcterms:modified xsi:type="dcterms:W3CDTF">2026-03-12T10:14:52Z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